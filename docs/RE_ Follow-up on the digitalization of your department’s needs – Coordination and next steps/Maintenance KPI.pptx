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4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33CE4-DCF1-42B9-AB9B-B0B72B52709E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FD764-05CE-452B-BEE9-1BFBB4B85C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47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74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51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07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53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6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1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98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0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69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032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63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B19E8-F157-4EB9-8FF4-96EEA94C6635}" type="datetimeFigureOut">
              <a:rPr lang="fr-FR" smtClean="0"/>
              <a:pPr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7F2E-FA1A-4B3E-B15E-802ADA6442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44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4" t="24996" r="-1" b="25116"/>
          <a:stretch/>
        </p:blipFill>
        <p:spPr>
          <a:xfrm>
            <a:off x="10824115" y="6450735"/>
            <a:ext cx="1283449" cy="3369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63486" y="300446"/>
            <a:ext cx="7406640" cy="3788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prstClr val="black"/>
                </a:solidFill>
              </a:rPr>
              <a:t>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09" y="5625609"/>
            <a:ext cx="110911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prstClr val="black"/>
                </a:solidFill>
              </a:rPr>
              <a:t>Comment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fr-FR" sz="1600" dirty="0">
                <a:solidFill>
                  <a:prstClr val="black"/>
                </a:solidFill>
              </a:rPr>
              <a:t>Line </a:t>
            </a:r>
            <a:r>
              <a:rPr lang="fr-FR" sz="1600" dirty="0" err="1">
                <a:solidFill>
                  <a:prstClr val="black"/>
                </a:solidFill>
              </a:rPr>
              <a:t>efficiency</a:t>
            </a:r>
            <a:r>
              <a:rPr lang="fr-FR" sz="1600" dirty="0">
                <a:solidFill>
                  <a:prstClr val="black"/>
                </a:solidFill>
              </a:rPr>
              <a:t> </a:t>
            </a:r>
            <a:r>
              <a:rPr lang="fr-FR" sz="1600" dirty="0" err="1">
                <a:solidFill>
                  <a:prstClr val="black"/>
                </a:solidFill>
              </a:rPr>
              <a:t>ended</a:t>
            </a:r>
            <a:r>
              <a:rPr lang="fr-FR" sz="1600" dirty="0">
                <a:solidFill>
                  <a:prstClr val="black"/>
                </a:solidFill>
              </a:rPr>
              <a:t> at 58.4%.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fr-FR" sz="1600" dirty="0">
                <a:solidFill>
                  <a:prstClr val="black"/>
                </a:solidFill>
              </a:rPr>
              <a:t>Machines downtimes </a:t>
            </a:r>
            <a:r>
              <a:rPr lang="fr-FR" sz="1600" dirty="0" err="1">
                <a:solidFill>
                  <a:prstClr val="black"/>
                </a:solidFill>
              </a:rPr>
              <a:t>mainly</a:t>
            </a:r>
            <a:r>
              <a:rPr lang="fr-FR" sz="1600" dirty="0">
                <a:solidFill>
                  <a:prstClr val="black"/>
                </a:solidFill>
              </a:rPr>
              <a:t> due to </a:t>
            </a:r>
            <a:r>
              <a:rPr lang="fr-FR" sz="1600" dirty="0" err="1">
                <a:solidFill>
                  <a:prstClr val="black"/>
                </a:solidFill>
              </a:rPr>
              <a:t>Bottles</a:t>
            </a:r>
            <a:r>
              <a:rPr lang="fr-FR" sz="1600" dirty="0">
                <a:solidFill>
                  <a:prstClr val="black"/>
                </a:solidFill>
              </a:rPr>
              <a:t> </a:t>
            </a:r>
            <a:r>
              <a:rPr lang="fr-FR" sz="1600" dirty="0" err="1">
                <a:solidFill>
                  <a:prstClr val="black"/>
                </a:solidFill>
              </a:rPr>
              <a:t>conveyors</a:t>
            </a:r>
            <a:r>
              <a:rPr lang="fr-FR" sz="1600" dirty="0">
                <a:solidFill>
                  <a:prstClr val="black"/>
                </a:solidFill>
              </a:rPr>
              <a:t>, Crates </a:t>
            </a:r>
            <a:r>
              <a:rPr lang="fr-FR" sz="1600" dirty="0" err="1">
                <a:solidFill>
                  <a:prstClr val="black"/>
                </a:solidFill>
              </a:rPr>
              <a:t>conveyors</a:t>
            </a:r>
            <a:r>
              <a:rPr lang="fr-FR" sz="1600" dirty="0">
                <a:solidFill>
                  <a:prstClr val="black"/>
                </a:solidFill>
              </a:rPr>
              <a:t> and Filler.</a:t>
            </a:r>
          </a:p>
          <a:p>
            <a:pPr lvl="2"/>
            <a:endParaRPr lang="fr-FR" sz="1600" dirty="0">
              <a:solidFill>
                <a:prstClr val="black"/>
              </a:solidFill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5B56306-9B1D-67CA-41EF-D2B0F43AD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626817"/>
              </p:ext>
            </p:extLst>
          </p:nvPr>
        </p:nvGraphicFramePr>
        <p:xfrm>
          <a:off x="487608" y="844527"/>
          <a:ext cx="11216715" cy="4781080"/>
        </p:xfrm>
        <a:graphic>
          <a:graphicData uri="http://schemas.openxmlformats.org/drawingml/2006/table">
            <a:tbl>
              <a:tblPr/>
              <a:tblGrid>
                <a:gridCol w="921922">
                  <a:extLst>
                    <a:ext uri="{9D8B030D-6E8A-4147-A177-3AD203B41FA5}">
                      <a16:colId xmlns:a16="http://schemas.microsoft.com/office/drawing/2014/main" val="1666930898"/>
                    </a:ext>
                  </a:extLst>
                </a:gridCol>
                <a:gridCol w="3841339">
                  <a:extLst>
                    <a:ext uri="{9D8B030D-6E8A-4147-A177-3AD203B41FA5}">
                      <a16:colId xmlns:a16="http://schemas.microsoft.com/office/drawing/2014/main" val="3198562215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2167847869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1728193501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3505987806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4187304662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2390880857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1178775926"/>
                    </a:ext>
                  </a:extLst>
                </a:gridCol>
                <a:gridCol w="921922">
                  <a:extLst>
                    <a:ext uri="{9D8B030D-6E8A-4147-A177-3AD203B41FA5}">
                      <a16:colId xmlns:a16="http://schemas.microsoft.com/office/drawing/2014/main" val="3612279268"/>
                    </a:ext>
                  </a:extLst>
                </a:gridCol>
              </a:tblGrid>
              <a:tr h="300988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Performance Indicator (KPI)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Line 4  October 2022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81860"/>
                  </a:ext>
                </a:extLst>
              </a:tr>
              <a:tr h="590401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 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 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 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 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MTD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Prev Month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122093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SIO Raised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30964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 Efficiency (LE)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&gt;85%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72101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Downtime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594754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Downtime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&lt;13%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604367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Availability (Overall)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&gt;90%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84505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Time to Repair (MTTR)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&lt;0.5 Hrs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71696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 Time Between Failures (MTBF)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&gt;10 Hrs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743544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Why Completion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&gt;85%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840373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 Plan Attainment (MPA)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&gt;95%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289682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Schedule Compliance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&gt;98%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455815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PM ( Preventive Maintenance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328880"/>
                  </a:ext>
                </a:extLst>
              </a:tr>
              <a:tr h="30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CM  ( Corrective Maintenance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607821"/>
                  </a:ext>
                </a:extLst>
              </a:tr>
              <a:tr h="277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PrM  ( Predictive Maintenance 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568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6776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29101</TotalTime>
  <Words>150</Words>
  <Application>Microsoft Office PowerPoint</Application>
  <PresentationFormat>Grand écran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Thème Office</vt:lpstr>
      <vt:lpstr>Présentation PowerPoint</vt:lpstr>
    </vt:vector>
  </TitlesOfParts>
  <Company>Info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Infographie</dc:creator>
  <cp:lastModifiedBy>JOY BIADJEU</cp:lastModifiedBy>
  <cp:revision>1150</cp:revision>
  <dcterms:created xsi:type="dcterms:W3CDTF">2019-02-06T10:25:47Z</dcterms:created>
  <dcterms:modified xsi:type="dcterms:W3CDTF">2025-11-13T16:43:45Z</dcterms:modified>
</cp:coreProperties>
</file>